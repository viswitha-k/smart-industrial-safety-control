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640080"/>
            <a:ext cx="2743200" cy="2743200"/>
          </a:xfrm>
          <a:prstGeom prst="ellipse">
            <a:avLst/>
          </a:prstGeom>
          <a:noFill/>
          <a:ln w="25400">
            <a:solidFill>
              <a:srgbClr val="2C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1280160"/>
            <a:ext cx="1463040" cy="1463040"/>
          </a:xfrm>
          <a:prstGeom prst="ellipse">
            <a:avLst/>
          </a:prstGeom>
          <a:noFill/>
          <a:ln w="25400">
            <a:solidFill>
              <a:srgbClr val="1AA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52560" y="1097280"/>
            <a:ext cx="1920240" cy="1920240"/>
          </a:xfrm>
          <a:prstGeom prst="ellipse">
            <a:avLst/>
          </a:prstGeom>
          <a:noFill/>
          <a:ln w="25400">
            <a:solidFill>
              <a:srgbClr val="2C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3566160" cy="329184"/>
          </a:xfrm>
          <a:prstGeom prst="round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754380"/>
            <a:ext cx="34930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C192D"/>
                </a:solidFill>
                <a:latin typeface="Aptos"/>
              </a:rPr>
              <a:t>PROJECT BASED LEARNING  •  EMBEDDED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68096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5F8FC"/>
                </a:solidFill>
                <a:latin typeface="Aptos"/>
              </a:rPr>
              <a:t>SMART INDUSTRIAL
SAFETY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65836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 i="0">
                <a:solidFill>
                  <a:srgbClr val="ACBED2"/>
                </a:solidFill>
                <a:latin typeface="Aptos"/>
              </a:rPr>
              <a:t>A microcontroller-based safety monitoring and control prototype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44752" y="4663440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SENSE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4828032"/>
            <a:ext cx="320039" cy="0"/>
          </a:xfrm>
          <a:prstGeom prst="line">
            <a:avLst/>
          </a:prstGeom>
          <a:ln w="2032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34640" y="4572000"/>
            <a:ext cx="502920" cy="502920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4663440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DECIDE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" y="4828032"/>
            <a:ext cx="320040" cy="0"/>
          </a:xfrm>
          <a:prstGeom prst="line">
            <a:avLst/>
          </a:prstGeom>
          <a:ln w="2032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846320" y="4572000"/>
            <a:ext cx="502920" cy="502920"/>
          </a:xfrm>
          <a:prstGeom prst="ellipse">
            <a:avLst/>
          </a:prstGeom>
          <a:solidFill>
            <a:srgbClr val="5B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68112" y="4663440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7955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ACBED2"/>
                </a:solidFill>
                <a:latin typeface="Aptos"/>
              </a:rPr>
              <a:t>
Koneru Lakshmaiah Education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Project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F5F8FC"/>
                </a:solidFill>
                <a:latin typeface="Aptos"/>
              </a:rPr>
              <a:t>A compact embedded control concept that monitors an input condition and supports safety-state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429000" cy="224028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64008" cy="224028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40487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CCDDC"/>
                </a:solidFill>
                <a:latin typeface="Aptos"/>
              </a:rPr>
              <a:t>01  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62072"/>
            <a:ext cx="306324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An IR sensor provides a digital input representing a detected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40280"/>
            <a:ext cx="3429000" cy="224028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240280"/>
            <a:ext cx="64008" cy="224028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40487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FA64D"/>
                </a:solidFill>
                <a:latin typeface="Aptos"/>
              </a:rPr>
              <a:t>02  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862072"/>
            <a:ext cx="306324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Firmware defines NORMAL, WARNING and EMERGENCY safety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240280"/>
            <a:ext cx="3429000" cy="224028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240280"/>
            <a:ext cx="64008" cy="2240280"/>
          </a:xfrm>
          <a:prstGeom prst="rect">
            <a:avLst/>
          </a:prstGeom>
          <a:solidFill>
            <a:srgbClr val="5B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40487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5BD297"/>
                </a:solidFill>
                <a:latin typeface="Aptos"/>
              </a:rPr>
              <a:t>03 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862072"/>
            <a:ext cx="306324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GPIO outputs, an LED, relay/motor-control signals and timer peripherals support the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ACBED2"/>
                </a:solidFill>
                <a:latin typeface="Aptos"/>
              </a:rPr>
              <a:t>Implementation basis: STM32CubeIDE project • STM32 HAL • C firmware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A64D"/>
                </a:solidFill>
                <a:latin typeface="Aptos"/>
              </a:rPr>
              <a:t>Important: this is a prototype foundation, not a certified industrial safety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F5F8FC"/>
                </a:solidFill>
                <a:latin typeface="Aptos"/>
              </a:rPr>
              <a:t>Industrial work areas can expose people and equipment to moving machinery, restricted zones and unexpected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383280" cy="210312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64008" cy="2103120"/>
          </a:xfrm>
          <a:prstGeom prst="rect">
            <a:avLst/>
          </a:prstGeom>
          <a:solidFill>
            <a:srgbClr val="F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2525B"/>
                </a:solidFill>
                <a:latin typeface="Aptos"/>
              </a:rPr>
              <a:t>Delayed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53512"/>
            <a:ext cx="301752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If a hazard is noticed only by a person, reaction time can vary.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3383280" cy="210312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331720"/>
            <a:ext cx="64008" cy="210312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496312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FA64D"/>
                </a:solidFill>
                <a:latin typeface="Aptos"/>
              </a:rPr>
              <a:t>Limited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953512"/>
            <a:ext cx="301752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Operators may not continuously observe every machine or work zone.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31720"/>
            <a:ext cx="3383280" cy="210312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331720"/>
            <a:ext cx="64008" cy="210312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496312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CCDDC"/>
                </a:solidFill>
                <a:latin typeface="Aptos"/>
              </a:rPr>
              <a:t>Need for interlocks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53512"/>
            <a:ext cx="301752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A control signal can help indicate a hazard and initiate a safer machine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CCDDC"/>
                </a:solidFill>
                <a:latin typeface="Aptos"/>
              </a:rPr>
              <a:t>Project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F5F8FC"/>
                </a:solidFill>
                <a:latin typeface="Aptos"/>
              </a:rPr>
              <a:t>How can a low-cost microcontroller prototype read a sensor input and organize outputs around explicit safety states?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6675120" cy="438912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Build an embedded firmware foundation on the STM32 platform.</a:t>
            </a:r>
          </a:p>
          <a:p>
            <a:pPr>
              <a:spcAft>
                <a:spcPts val="8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Initialize GPIO and timer peripherals using the STM32 Hardware Abstraction Layer (HAL).</a:t>
            </a:r>
          </a:p>
          <a:p>
            <a:pPr>
              <a:spcAft>
                <a:spcPts val="8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Represent system condition using NORMAL, WARNING and EMERGENCY states.</a:t>
            </a:r>
          </a:p>
          <a:p>
            <a:pPr>
              <a:spcAft>
                <a:spcPts val="8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Enable a PWM output and a timer interrupt as part of the peripheral setup.</a:t>
            </a:r>
          </a:p>
          <a:p>
            <a:pPr>
              <a:spcAft>
                <a:spcPts val="8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Structure the design so sensors and outputs can be extended in later iterations.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08760"/>
            <a:ext cx="3429000" cy="164592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09560" y="1508760"/>
            <a:ext cx="64008" cy="164592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8" y="1673351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CCDDC"/>
                </a:solidFill>
                <a:latin typeface="Aptos"/>
              </a:rPr>
              <a:t>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130552"/>
            <a:ext cx="3063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Embedded control logic, sensor input concept, indicators and actuator-control outputs.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429000"/>
            <a:ext cx="3429000" cy="164592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3429000"/>
            <a:ext cx="64008" cy="164592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359359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A64D"/>
                </a:solidFill>
                <a:latin typeface="Aptos"/>
              </a:rPr>
              <a:t>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4050791"/>
            <a:ext cx="3063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Certified machinery protection, validated hazard analysis, production deployment and measured reliability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1">
                <a:solidFill>
                  <a:srgbClr val="ACBED2"/>
                </a:solidFill>
                <a:latin typeface="Aptos"/>
              </a:rPr>
              <a:t>The scope describes a learning prototype; final behavior must be verified on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20240" cy="10515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" cy="105156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1572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CCDDC"/>
                </a:solidFill>
                <a:latin typeface="Aptos"/>
              </a:rPr>
              <a:t>IR 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50592"/>
            <a:ext cx="1554480" cy="320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Digital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828800"/>
            <a:ext cx="1965960" cy="10515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828800"/>
            <a:ext cx="64008" cy="1051560"/>
          </a:xfrm>
          <a:prstGeom prst="rect">
            <a:avLst/>
          </a:prstGeom>
          <a:solidFill>
            <a:srgbClr val="1A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1993392"/>
            <a:ext cx="16184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A5A0"/>
                </a:solidFill>
                <a:latin typeface="Aptos"/>
              </a:rPr>
              <a:t>STM32F103RB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450592"/>
            <a:ext cx="1600200" cy="320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GPIO + firmware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828800"/>
            <a:ext cx="1965960" cy="10515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0" y="1828800"/>
            <a:ext cx="64008" cy="105156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4688" y="1993392"/>
            <a:ext cx="16184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A64D"/>
                </a:solidFill>
                <a:latin typeface="Aptos"/>
              </a:rPr>
              <a:t>SAFETY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450592"/>
            <a:ext cx="1600200" cy="320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Normal / warning /
emergency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828800"/>
            <a:ext cx="1600200" cy="10515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26679" y="1828800"/>
            <a:ext cx="64008" cy="1051560"/>
          </a:xfrm>
          <a:prstGeom prst="rect">
            <a:avLst/>
          </a:prstGeom>
          <a:solidFill>
            <a:srgbClr val="5B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27848" y="199339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BD297"/>
                </a:solidFill>
                <a:latin typeface="Aptos"/>
              </a:rPr>
              <a:t>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450592"/>
            <a:ext cx="1234440" cy="320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LED / relay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828800"/>
            <a:ext cx="1828800" cy="10515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92640" y="1828800"/>
            <a:ext cx="64008" cy="1051560"/>
          </a:xfrm>
          <a:prstGeom prst="rect">
            <a:avLst/>
          </a:prstGeom>
          <a:solidFill>
            <a:srgbClr val="F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3808" y="1993392"/>
            <a:ext cx="14813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2525B"/>
                </a:solidFill>
                <a:latin typeface="Aptos"/>
              </a:rPr>
              <a:t>MOTOR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2450592"/>
            <a:ext cx="1463040" cy="320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PWM-capable path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60320" y="2359152"/>
            <a:ext cx="320040" cy="0"/>
          </a:xfrm>
          <a:prstGeom prst="line">
            <a:avLst/>
          </a:prstGeom>
          <a:ln w="2286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46320" y="2359152"/>
            <a:ext cx="457200" cy="0"/>
          </a:xfrm>
          <a:prstGeom prst="line">
            <a:avLst/>
          </a:prstGeom>
          <a:ln w="2286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69480" y="2359152"/>
            <a:ext cx="457199" cy="0"/>
          </a:xfrm>
          <a:prstGeom prst="line">
            <a:avLst/>
          </a:prstGeom>
          <a:ln w="2286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26880" y="2359152"/>
            <a:ext cx="365760" cy="0"/>
          </a:xfrm>
          <a:prstGeom prst="line">
            <a:avLst/>
          </a:prstGeom>
          <a:ln w="2286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965960" y="3977639"/>
            <a:ext cx="3383280" cy="123444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65960" y="3977639"/>
            <a:ext cx="64008" cy="123444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8" y="4142231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CCDDC"/>
                </a:solidFill>
                <a:latin typeface="Aptos"/>
              </a:rPr>
              <a:t>TIM2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7128" y="4599431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PWM started on Channel 1; configured pulse starts at 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06440" y="3977639"/>
            <a:ext cx="3383280" cy="123444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806440" y="3977639"/>
            <a:ext cx="64008" cy="123444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07607" y="4142231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A64D"/>
                </a:solidFill>
                <a:latin typeface="Aptos"/>
              </a:rPr>
              <a:t>TIM4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7" y="4599431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Base timer started with interrupt enabled.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3977639"/>
            <a:ext cx="2286000" cy="123444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235440" y="3977639"/>
            <a:ext cx="64008" cy="1234440"/>
          </a:xfrm>
          <a:prstGeom prst="rect">
            <a:avLst/>
          </a:prstGeom>
          <a:solidFill>
            <a:srgbClr val="1A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36608" y="4142231"/>
            <a:ext cx="1938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A5A0"/>
                </a:solidFill>
                <a:latin typeface="Aptos"/>
              </a:rPr>
              <a:t>TIM3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36608" y="4599431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Input-capture peripheral initialized.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1">
                <a:solidFill>
                  <a:srgbClr val="ACBED2"/>
                </a:solidFill>
                <a:latin typeface="Aptos"/>
              </a:rPr>
              <a:t>The diagram separates the conceptual safety path from the specific timer setup found in the firmware.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Hardware &amp; peripheral building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50876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CCDDC"/>
                </a:solidFill>
                <a:latin typeface="Aptos"/>
              </a:rPr>
              <a:t>STM32 microcontroller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310896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Executes C firmware and coordinates inputs, states and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64008" cy="1508760"/>
          </a:xfrm>
          <a:prstGeom prst="rect">
            <a:avLst/>
          </a:prstGeom>
          <a:solidFill>
            <a:srgbClr val="1A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AA5A0"/>
                </a:solidFill>
                <a:latin typeface="Aptos"/>
              </a:rPr>
              <a:t>IR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0896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Provides a digital sensing signal; exact range and target depend on the module.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47472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64008" cy="1508760"/>
          </a:xfrm>
          <a:prstGeom prst="rect">
            <a:avLst/>
          </a:prstGeom>
          <a:solidFill>
            <a:srgbClr val="5B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490472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5BD297"/>
                </a:solidFill>
                <a:latin typeface="Aptos"/>
              </a:rPr>
              <a:t>LED / status indicator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47672"/>
            <a:ext cx="310896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Provides a simple local indication when wired and mapped to firmware.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347472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64008" cy="150876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410712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FA64D"/>
                </a:solidFill>
                <a:latin typeface="Aptos"/>
              </a:rPr>
              <a:t>Relay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867911"/>
            <a:ext cx="310896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Can switch a separate load through a suitable driver and isolation stage.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246120"/>
            <a:ext cx="347472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246120"/>
            <a:ext cx="64008" cy="1508760"/>
          </a:xfrm>
          <a:prstGeom prst="rect">
            <a:avLst/>
          </a:prstGeom>
          <a:solidFill>
            <a:srgbClr val="F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410712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2525B"/>
                </a:solidFill>
                <a:latin typeface="Aptos"/>
              </a:rPr>
              <a:t>Motor-control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867911"/>
            <a:ext cx="310896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PWM is initialized; power-stage design and safe shutdown require hardware validation.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246120"/>
            <a:ext cx="347472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3246120"/>
            <a:ext cx="64008" cy="150876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3410712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CCDDC"/>
                </a:solidFill>
                <a:latin typeface="Aptos"/>
              </a:rPr>
              <a:t>Timer peripherals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3867911"/>
            <a:ext cx="310896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TIM2 PWM, TIM3 input capture initialization, and TIM4 interrupt-based timing.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A64D"/>
                </a:solidFill>
                <a:latin typeface="Aptos"/>
              </a:rPr>
              <a:t>Electrical design reminder: use appropriate driver circuitry, protection, grounding and isolation. Never drive industrial loads directly from MCU pins.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Firmware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2801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128016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CCDDC"/>
                </a:solidFill>
                <a:latin typeface="Aptos"/>
              </a:rPr>
              <a:t>1 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3063240" cy="548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HAL_Init() and system clock setup.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2801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4008" cy="1280160"/>
          </a:xfrm>
          <a:prstGeom prst="rect">
            <a:avLst/>
          </a:prstGeom>
          <a:solidFill>
            <a:srgbClr val="1A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3619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A5A0"/>
                </a:solidFill>
                <a:latin typeface="Aptos"/>
              </a:rPr>
              <a:t>2  Peripheral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93392"/>
            <a:ext cx="3063240" cy="548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GPIO, TIM2, TIM3 and TIM4 are initialized.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2801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64008" cy="128016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3619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A64D"/>
                </a:solidFill>
                <a:latin typeface="Aptos"/>
              </a:rPr>
              <a:t>3  Enable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063240" cy="548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TIM2 PWM starts; TIM4 interrupt is enabled and its base timer starts.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2011680"/>
            <a:ext cx="228600" cy="0"/>
          </a:xfrm>
          <a:prstGeom prst="line">
            <a:avLst/>
          </a:prstGeom>
          <a:ln w="2286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18120" y="2011680"/>
            <a:ext cx="228600" cy="0"/>
          </a:xfrm>
          <a:prstGeom prst="line">
            <a:avLst/>
          </a:prstGeom>
          <a:ln w="2286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28800" y="3429000"/>
            <a:ext cx="3840480" cy="141732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0" y="3429000"/>
            <a:ext cx="64008" cy="1417320"/>
          </a:xfrm>
          <a:prstGeom prst="rect">
            <a:avLst/>
          </a:prstGeom>
          <a:solidFill>
            <a:srgbClr val="F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29968" y="3593592"/>
            <a:ext cx="3493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2525B"/>
                </a:solidFill>
                <a:latin typeface="Aptos"/>
              </a:rPr>
              <a:t>Main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4050791"/>
            <a:ext cx="34747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The while(1) loop is present but contains no application logic in the supplied main.c.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429000"/>
            <a:ext cx="3840480" cy="141732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3429000"/>
            <a:ext cx="64008" cy="141732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01968" y="3593592"/>
            <a:ext cx="3493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A64D"/>
                </a:solidFill>
                <a:latin typeface="Aptos"/>
              </a:rPr>
              <a:t>Safety 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050791"/>
            <a:ext cx="34747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Safety_State_Update() is declared, but a definition/call is not visible in the supplied main.c.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789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This distinction matters: peripheral setup is implemented, but complete sensor-to-state-to-actuator behavior is not demonstrated by the provided main 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Three-state safety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CONTROL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01752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64008" cy="1508760"/>
          </a:xfrm>
          <a:prstGeom prst="rect">
            <a:avLst/>
          </a:prstGeom>
          <a:solidFill>
            <a:srgbClr val="5B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2670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5BD297"/>
                </a:solidFill>
                <a:latin typeface="Aptos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265176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No hazard condition indicated
Expected: normal operation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301752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1965960"/>
            <a:ext cx="64008" cy="150876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2130552"/>
            <a:ext cx="2670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A64D"/>
                </a:solidFill>
                <a:latin typeface="Aptos"/>
              </a:rPr>
              <a:t>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87752"/>
            <a:ext cx="265176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Abnormal condition detected
Expected: alert / prepare to stop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65960"/>
            <a:ext cx="301752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1965960"/>
            <a:ext cx="64008" cy="1508760"/>
          </a:xfrm>
          <a:prstGeom prst="rect">
            <a:avLst/>
          </a:prstGeom>
          <a:solidFill>
            <a:srgbClr val="F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13648" y="2130552"/>
            <a:ext cx="2670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2525B"/>
                </a:solidFill>
                <a:latin typeface="Aptos"/>
              </a:rPr>
              <a:t>EMERGENCY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587752"/>
            <a:ext cx="265176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Critical condition or E-stop
Expected: move to safe state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49039" y="2697480"/>
            <a:ext cx="822961" cy="0"/>
          </a:xfrm>
          <a:prstGeom prst="line">
            <a:avLst/>
          </a:prstGeom>
          <a:ln w="2540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89520" y="2697480"/>
            <a:ext cx="822960" cy="0"/>
          </a:xfrm>
          <a:prstGeom prst="line">
            <a:avLst/>
          </a:prstGeom>
          <a:ln w="25400">
            <a:solidFill>
              <a:srgbClr val="AC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240280" y="3611880"/>
            <a:ext cx="7680960" cy="548640"/>
          </a:xfrm>
          <a:prstGeom prst="line">
            <a:avLst/>
          </a:prstGeom>
          <a:ln w="20320">
            <a:solidFill>
              <a:srgbClr val="2C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20240" y="4251960"/>
            <a:ext cx="8595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ACBED2"/>
                </a:solidFill>
                <a:latin typeface="Aptos"/>
              </a:rPr>
              <a:t>Conceptual return to NORMAL only after the hazard is cleared and an intentional reset is allowed.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A64D"/>
                </a:solidFill>
                <a:latin typeface="Aptos"/>
              </a:rPr>
              <a:t>Code evidence: SafetyState enum defines NORMAL, WARNING and EMERGENCY; the actual transition rules still need implementation and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Timer configuration in the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IMPLEMENTATION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508760" cy="566928"/>
          </a:xfrm>
          <a:prstGeom prst="rect">
            <a:avLst/>
          </a:prstGeom>
          <a:solidFill>
            <a:srgbClr val="1AA5A0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72184"/>
            <a:ext cx="136245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Peripheral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417320"/>
            <a:ext cx="4754880" cy="566928"/>
          </a:xfrm>
          <a:prstGeom prst="rect">
            <a:avLst/>
          </a:prstGeom>
          <a:solidFill>
            <a:srgbClr val="1AA5A0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472184"/>
            <a:ext cx="460857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Configuration visible in main.c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417320"/>
            <a:ext cx="4480560" cy="566928"/>
          </a:xfrm>
          <a:prstGeom prst="rect">
            <a:avLst/>
          </a:prstGeom>
          <a:solidFill>
            <a:srgbClr val="1AA5A0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22592" y="1472184"/>
            <a:ext cx="433425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Purpose / 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84248"/>
            <a:ext cx="1508760" cy="868680"/>
          </a:xfrm>
          <a:prstGeom prst="rect">
            <a:avLst/>
          </a:prstGeom>
          <a:solidFill>
            <a:srgbClr val="142A45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039112"/>
            <a:ext cx="1362456" cy="7589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TIM2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984248"/>
            <a:ext cx="4754880" cy="868680"/>
          </a:xfrm>
          <a:prstGeom prst="rect">
            <a:avLst/>
          </a:prstGeom>
          <a:solidFill>
            <a:srgbClr val="142A45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67712" y="2039112"/>
            <a:ext cx="4608576" cy="7589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Prescaler 71; Period 999; PWM Channel 1; Pulse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984248"/>
            <a:ext cx="4480560" cy="868680"/>
          </a:xfrm>
          <a:prstGeom prst="rect">
            <a:avLst/>
          </a:prstGeom>
          <a:solidFill>
            <a:srgbClr val="142A45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2592" y="2039112"/>
            <a:ext cx="4334256" cy="7589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PWM output initialized and started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852928"/>
            <a:ext cx="1508760" cy="868680"/>
          </a:xfrm>
          <a:prstGeom prst="rect">
            <a:avLst/>
          </a:prstGeom>
          <a:solidFill>
            <a:srgbClr val="19314C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2907792"/>
            <a:ext cx="1362456" cy="7589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TIM3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852928"/>
            <a:ext cx="4754880" cy="868680"/>
          </a:xfrm>
          <a:prstGeom prst="rect">
            <a:avLst/>
          </a:prstGeom>
          <a:solidFill>
            <a:srgbClr val="19314C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67712" y="2907792"/>
            <a:ext cx="4608576" cy="7589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Prescaler 7; Period 65535; input-capture init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852928"/>
            <a:ext cx="4480560" cy="868680"/>
          </a:xfrm>
          <a:prstGeom prst="rect">
            <a:avLst/>
          </a:prstGeom>
          <a:solidFill>
            <a:srgbClr val="19314C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22592" y="2907792"/>
            <a:ext cx="4334256" cy="7589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Capture peripheral setup is present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21608"/>
            <a:ext cx="1508760" cy="868680"/>
          </a:xfrm>
          <a:prstGeom prst="rect">
            <a:avLst/>
          </a:prstGeom>
          <a:solidFill>
            <a:srgbClr val="142A45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776472"/>
            <a:ext cx="1362456" cy="7589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TIM4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3721608"/>
            <a:ext cx="4754880" cy="868680"/>
          </a:xfrm>
          <a:prstGeom prst="rect">
            <a:avLst/>
          </a:prstGeom>
          <a:solidFill>
            <a:srgbClr val="142A45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67712" y="3776472"/>
            <a:ext cx="4608576" cy="7589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Base timer started with interrupt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721608"/>
            <a:ext cx="4480560" cy="868680"/>
          </a:xfrm>
          <a:prstGeom prst="rect">
            <a:avLst/>
          </a:prstGeom>
          <a:solidFill>
            <a:srgbClr val="142A45"/>
          </a:solidFill>
          <a:ln>
            <a:solidFill>
              <a:srgbClr val="37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22592" y="3776472"/>
            <a:ext cx="4334256" cy="7589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Periodic callback path can be used for timing/state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A64D"/>
                </a:solidFill>
                <a:latin typeface="Aptos"/>
              </a:rPr>
              <a:t>Exact output frequency depends on the effective timer clock and prescaler/period settings. Verify the board clock tree and pin mapping before quoting a frequency.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Intended operating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SYSTEM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150876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CCDDC"/>
                </a:solidFill>
                <a:latin typeface="Aptos"/>
              </a:rPr>
              <a:t>01  Power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301752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Initialize MCU, clock and peripherals.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38328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417320"/>
            <a:ext cx="64008" cy="1508760"/>
          </a:xfrm>
          <a:prstGeom prst="rect">
            <a:avLst/>
          </a:prstGeom>
          <a:solidFill>
            <a:srgbClr val="1A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581912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A5A0"/>
                </a:solidFill>
                <a:latin typeface="Aptos"/>
              </a:rPr>
              <a:t>02  Read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39112"/>
            <a:ext cx="301752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Sample the sensor and emergency control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38328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64008" cy="150876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581912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A64D"/>
                </a:solidFill>
                <a:latin typeface="Aptos"/>
              </a:rPr>
              <a:t>03  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039112"/>
            <a:ext cx="301752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Apply defined thresholds and priority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39"/>
            <a:ext cx="338328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520439"/>
            <a:ext cx="64008" cy="1508760"/>
          </a:xfrm>
          <a:prstGeom prst="rect">
            <a:avLst/>
          </a:prstGeom>
          <a:solidFill>
            <a:srgbClr val="F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685031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2525B"/>
                </a:solidFill>
                <a:latin typeface="Aptos"/>
              </a:rPr>
              <a:t>04  Signal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42231"/>
            <a:ext cx="301752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Update indicator and state representation.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520439"/>
            <a:ext cx="338328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520439"/>
            <a:ext cx="64008" cy="1508760"/>
          </a:xfrm>
          <a:prstGeom prst="rect">
            <a:avLst/>
          </a:prstGeom>
          <a:solidFill>
            <a:srgbClr val="5B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685031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BD297"/>
                </a:solidFill>
                <a:latin typeface="Aptos"/>
              </a:rPr>
              <a:t>05  Control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142231"/>
            <a:ext cx="301752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Command the actuator interface to a safe condition.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520439"/>
            <a:ext cx="3383280" cy="150876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3520439"/>
            <a:ext cx="64008" cy="150876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685031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CCDDC"/>
                </a:solidFill>
                <a:latin typeface="Aptos"/>
              </a:rPr>
              <a:t>06  Recover safely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142231"/>
            <a:ext cx="3017520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Require hazard clearance and deliberate reset.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1">
                <a:solidFill>
                  <a:srgbClr val="ACBED2"/>
                </a:solidFill>
                <a:latin typeface="Aptos"/>
              </a:rPr>
              <a:t>This sequence is the recommended application workflow. It is not a claim that all six steps are currently implemented in the submitted firmware.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Verification plan &amp; test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0" cy="502920"/>
          </a:xfrm>
          <a:prstGeom prst="rect">
            <a:avLst/>
          </a:prstGeom>
          <a:solidFill>
            <a:srgbClr val="1AA5A0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357884"/>
            <a:ext cx="5303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325880"/>
            <a:ext cx="1828800" cy="502920"/>
          </a:xfrm>
          <a:prstGeom prst="rect">
            <a:avLst/>
          </a:prstGeom>
          <a:solidFill>
            <a:srgbClr val="1AA5A0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35024" y="1357884"/>
            <a:ext cx="17190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325880"/>
            <a:ext cx="4572000" cy="502920"/>
          </a:xfrm>
          <a:prstGeom prst="rect">
            <a:avLst/>
          </a:prstGeom>
          <a:solidFill>
            <a:srgbClr val="1AA5A0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63824" y="1357884"/>
            <a:ext cx="44622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Expected behavior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325880"/>
            <a:ext cx="4069080" cy="502920"/>
          </a:xfrm>
          <a:prstGeom prst="rect">
            <a:avLst/>
          </a:prstGeom>
          <a:solidFill>
            <a:srgbClr val="1AA5A0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35824" y="1357884"/>
            <a:ext cx="39593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Verification 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828800"/>
            <a:ext cx="64008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1860804"/>
            <a:ext cx="530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T1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1828800"/>
            <a:ext cx="182880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5024" y="1860804"/>
            <a:ext cx="17190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Power-on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1828800"/>
            <a:ext cx="457200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63824" y="1860804"/>
            <a:ext cx="44622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MCU boots and initializes all configured peripherals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1828800"/>
            <a:ext cx="406908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35824" y="1860804"/>
            <a:ext cx="3959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Record startup / debugger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487168"/>
            <a:ext cx="64008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2519172"/>
            <a:ext cx="530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T2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487168"/>
            <a:ext cx="182880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35024" y="2519172"/>
            <a:ext cx="17190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Sensor active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487168"/>
            <a:ext cx="457200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63824" y="2519172"/>
            <a:ext cx="44622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Input level is read consistently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487168"/>
            <a:ext cx="406908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35824" y="2519172"/>
            <a:ext cx="3959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Check GPIO polarity and debounce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145535"/>
            <a:ext cx="64008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" y="3177539"/>
            <a:ext cx="530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T3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3145535"/>
            <a:ext cx="182880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35024" y="3177539"/>
            <a:ext cx="17190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Emergency button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145535"/>
            <a:ext cx="457200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63824" y="3177539"/>
            <a:ext cx="44622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Emergency condition overrides normal operation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3145535"/>
            <a:ext cx="406908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35824" y="3177539"/>
            <a:ext cx="3959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Verify hardware path and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03903"/>
            <a:ext cx="64008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4944" y="3835907"/>
            <a:ext cx="530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T4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3803903"/>
            <a:ext cx="182880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35024" y="3835907"/>
            <a:ext cx="17190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Indicator output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3803903"/>
            <a:ext cx="457200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63824" y="3835907"/>
            <a:ext cx="44622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Status changes with the defined state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3803903"/>
            <a:ext cx="406908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35824" y="3835907"/>
            <a:ext cx="3959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Measure GPIO and observe LED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462271"/>
            <a:ext cx="64008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4944" y="4494275"/>
            <a:ext cx="530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T5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4462271"/>
            <a:ext cx="182880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35024" y="4494275"/>
            <a:ext cx="17190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PWM output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4462271"/>
            <a:ext cx="457200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63824" y="4494275"/>
            <a:ext cx="44622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TIM2 Channel 1 output is present as configured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4462271"/>
            <a:ext cx="4069080" cy="658368"/>
          </a:xfrm>
          <a:prstGeom prst="rect">
            <a:avLst/>
          </a:prstGeom>
          <a:solidFill>
            <a:srgbClr val="142A45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35824" y="4494275"/>
            <a:ext cx="3959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Scope/logic analyzer at mapped pin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120639"/>
            <a:ext cx="64008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4944" y="5152643"/>
            <a:ext cx="530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T6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80160" y="5120639"/>
            <a:ext cx="182880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35024" y="5152643"/>
            <a:ext cx="17190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Timer interrupt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5120639"/>
            <a:ext cx="457200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163824" y="5152643"/>
            <a:ext cx="446227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TIM4 callback executes at expected interval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0" y="5120639"/>
            <a:ext cx="4069080" cy="658368"/>
          </a:xfrm>
          <a:prstGeom prst="rect">
            <a:avLst/>
          </a:prstGeom>
          <a:solidFill>
            <a:srgbClr val="19314C"/>
          </a:solidFill>
          <a:ln>
            <a:solidFill>
              <a:srgbClr val="36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735824" y="5152643"/>
            <a:ext cx="3959352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Toggle test pin or inspect debugger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080760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A64D"/>
                </a:solidFill>
                <a:latin typeface="Aptos"/>
              </a:rPr>
              <a:t>Results should be filled only after executing each test on the target board. No measured pass/fail data was supplied with the project 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Implementation status: what is and isn't shown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182880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828800"/>
          </a:xfrm>
          <a:prstGeom prst="rect">
            <a:avLst/>
          </a:prstGeom>
          <a:solidFill>
            <a:srgbClr val="5B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4818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BD297"/>
                </a:solidFill>
                <a:latin typeface="Aptos"/>
              </a:rPr>
              <a:t>Visible in supplied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4800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• SafetyState enum
• HAL and clock initialization
• GPIO and TIM2/TIM3/TIM4 init calls
• TIM2 PWM start
• TIM4 interrupt enable + base timer 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166360" cy="182880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82880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818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A64D"/>
                </a:solidFill>
                <a:latin typeface="Aptos"/>
              </a:rPr>
              <a:t>Needs completion /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47672"/>
            <a:ext cx="4800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• Implement and call state-update logic
• Confirm sensor and emergency input pin mapping
• Connect outputs to transitions
• Validate safe-state behavior on hardware
• Add measured timing and test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CCDDC"/>
                </a:solidFill>
                <a:latin typeface="Aptos"/>
              </a:rPr>
              <a:t>Reported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332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F5F8FC"/>
                </a:solidFill>
                <a:latin typeface="Aptos"/>
              </a:rPr>
              <a:t>The project provides a structured embedded starting point for industrial safety control. Performance, response time and reliability must be established through documented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2525B"/>
                </a:solidFill>
                <a:latin typeface="Aptos"/>
              </a:rPr>
              <a:t>Do not present simulated or planned outcomes as measured experimental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Safety engineering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RISK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29000" cy="155448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554480"/>
          </a:xfrm>
          <a:prstGeom prst="rect">
            <a:avLst/>
          </a:prstGeom>
          <a:solidFill>
            <a:srgbClr val="F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2525B"/>
                </a:solidFill>
                <a:latin typeface="Aptos"/>
              </a:rPr>
              <a:t>Fail-safe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3063240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Define what happens on reset, sensor disconnect, MCU lockup and power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55448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155448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49047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A64D"/>
                </a:solidFill>
                <a:latin typeface="Aptos"/>
              </a:rPr>
              <a:t>Emergency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47672"/>
            <a:ext cx="3063240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Use a suitable hardwired safety circuit where required; do not rely only on application firmware.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29000" cy="155448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64008" cy="1554480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49047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CCDDC"/>
                </a:solidFill>
                <a:latin typeface="Aptos"/>
              </a:rPr>
              <a:t>Electrical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063240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Use rated drivers, flyback protection, isolation and appropriate power separation.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3429000" cy="155448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337560"/>
            <a:ext cx="64008" cy="1554480"/>
          </a:xfrm>
          <a:prstGeom prst="rect">
            <a:avLst/>
          </a:prstGeom>
          <a:solidFill>
            <a:srgbClr val="1A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50215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A5A0"/>
                </a:solidFill>
                <a:latin typeface="Aptos"/>
              </a:rPr>
              <a:t>Input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959352"/>
            <a:ext cx="3063240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Debounce switches, validate signal polarity, handle noise and detect wiring faults.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37560"/>
            <a:ext cx="3429000" cy="155448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337560"/>
            <a:ext cx="64008" cy="1554480"/>
          </a:xfrm>
          <a:prstGeom prst="rect">
            <a:avLst/>
          </a:prstGeom>
          <a:solidFill>
            <a:srgbClr val="5B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350215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BD297"/>
                </a:solidFill>
                <a:latin typeface="Aptos"/>
              </a:rPr>
              <a:t>Independent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959352"/>
            <a:ext cx="3063240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Test normal, warning, emergency and fault-injection conditions.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337560"/>
            <a:ext cx="3429000" cy="155448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337560"/>
            <a:ext cx="64008" cy="155448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50215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A64D"/>
                </a:solidFill>
                <a:latin typeface="Aptos"/>
              </a:rPr>
              <a:t>Standards &amp;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959352"/>
            <a:ext cx="3063240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Assess applicable machinery/electrical safety standards with qualified personnel before deployment.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2525B"/>
                </a:solidFill>
                <a:latin typeface="Aptos"/>
              </a:rPr>
              <a:t>This student prototype must not be used as the sole protective system for real industrial machinery.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182880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828800"/>
          </a:xfrm>
          <a:prstGeom prst="rect">
            <a:avLst/>
          </a:prstGeom>
          <a:solidFill>
            <a:srgbClr val="F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47731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2525B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475487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• Application loop is empty in supplied main.c
• State-update routine is declared but not shown as implemented
• No logged hardware test results or measured metrics provided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120640" cy="182880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828800"/>
          </a:xfrm>
          <a:prstGeom prst="rect">
            <a:avLst/>
          </a:prstGeom>
          <a:solidFill>
            <a:srgbClr val="5B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7731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BD297"/>
                </a:solidFill>
                <a:latin typeface="Aptos"/>
              </a:rPr>
              <a:t>Next development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47672"/>
            <a:ext cx="475487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• Complete sensor polling / interrupt handling
• Implement priority-based state transitions
• Add watchdog and fault detection
• Log events and timestamps
• Test output shutdown and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CCDDC"/>
                </a:solidFill>
                <a:latin typeface="Aptos"/>
              </a:rPr>
              <a:t>Longer-term extensions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10607040" cy="164592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Add industrial-grade sensors for temperature, gas, vibration or access monitoring.</a:t>
            </a:r>
          </a:p>
          <a:p>
            <a:pPr>
              <a:spcAft>
                <a:spcPts val="6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Introduce an HMI/dashboard and event history where appropriate.</a:t>
            </a:r>
          </a:p>
          <a:p>
            <a:pPr>
              <a:spcAft>
                <a:spcPts val="6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Add communications only after defining cybersecurity and fail-safe behavior.</a:t>
            </a:r>
          </a:p>
          <a:p>
            <a:pPr>
              <a:spcAft>
                <a:spcPts val="6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Perform formal risk assessment, validation and maintenance planning.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Conclusion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51560" cy="50292"/>
          </a:xfrm>
          <a:prstGeom prst="rect">
            <a:avLst/>
          </a:prstGeom>
          <a:solidFill>
            <a:srgbClr val="2C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40233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2CCDDC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ACBED2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CCDDC"/>
                </a:solidFill>
                <a:latin typeface="Aptos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6400800" cy="274320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project explores a microcontroller-based approach to industrial safety monitoring.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firmware defines three safety states and initializes multiple STM32 timer peripherals.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next milestone is to connect sensor inputs, state transitions and outputs, then verify behavior on hardware.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Safety-critical deployment requires independent protective design and formal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749039" cy="2377440"/>
          </a:xfrm>
          <a:prstGeom prst="roundRect">
            <a:avLst/>
          </a:prstGeom>
          <a:solidFill>
            <a:srgbClr val="142A45"/>
          </a:solidFill>
          <a:ln w="12700">
            <a:solidFill>
              <a:srgbClr val="2C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64008" cy="2377440"/>
          </a:xfrm>
          <a:prstGeom prst="rect">
            <a:avLst/>
          </a:prstGeom>
          <a:solidFill>
            <a:srgbClr val="1A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44968" y="1581912"/>
            <a:ext cx="34015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A5A0"/>
                </a:solidFill>
                <a:latin typeface="Aptos"/>
              </a:rPr>
              <a:t>Reference basis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2039112"/>
            <a:ext cx="3383279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F5F8FC"/>
                </a:solidFill>
                <a:latin typeface="Aptos"/>
              </a:rPr>
              <a:t>• Project source: </a:t>
            </a:r>
            <a:r>
              <a:rPr sz="1200" b="0" i="0" dirty="0" err="1">
                <a:solidFill>
                  <a:srgbClr val="F5F8FC"/>
                </a:solidFill>
                <a:latin typeface="Aptos"/>
              </a:rPr>
              <a:t>Src</a:t>
            </a:r>
            <a:r>
              <a:rPr sz="1200" b="0" i="0" dirty="0">
                <a:solidFill>
                  <a:srgbClr val="F5F8FC"/>
                </a:solidFill>
                <a:latin typeface="Aptos"/>
              </a:rPr>
              <a:t>/</a:t>
            </a:r>
            <a:r>
              <a:rPr sz="1200" b="0" i="0" dirty="0" err="1">
                <a:solidFill>
                  <a:srgbClr val="F5F8FC"/>
                </a:solidFill>
                <a:latin typeface="Aptos"/>
              </a:rPr>
              <a:t>main.c</a:t>
            </a:r>
            <a:r>
              <a:rPr sz="1200" b="0" i="0" dirty="0">
                <a:solidFill>
                  <a:srgbClr val="F5F8FC"/>
                </a:solidFill>
                <a:latin typeface="Aptos"/>
              </a:rPr>
              <a:t> and STM32CubeIDE configuration (.</a:t>
            </a:r>
            <a:r>
              <a:rPr sz="1200" b="0" i="0" dirty="0" err="1">
                <a:solidFill>
                  <a:srgbClr val="F5F8FC"/>
                </a:solidFill>
                <a:latin typeface="Aptos"/>
              </a:rPr>
              <a:t>ioc</a:t>
            </a:r>
            <a:r>
              <a:rPr sz="1200" b="0" i="0">
                <a:solidFill>
                  <a:srgbClr val="F5F8FC"/>
                </a:solidFill>
                <a:latin typeface="Aptos"/>
              </a:rPr>
              <a:t>)
• STMicroelectronics, STM32F1 HAL and reference documentation
• IEC 60204-1: Safety of machinery — Electrical equipment of machines (consult current applicable edition)
• ISO 13850: Safety of machinery — Emergency stop function (consult current applicable edition)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5029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9788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ACBED2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1539</Words>
  <Application>Microsoft Office PowerPoint</Application>
  <PresentationFormat>Widescreen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Industrial Safety Control</dc:title>
  <dc:subject>Project Based Learning presentation</dc:subject>
  <dc:creator>Project Team</dc:creator>
  <cp:keywords>STM32, industrial safety, embedded systems, PWM, safety states</cp:keywords>
  <dc:description>generated using python-pptx</dc:description>
  <cp:lastModifiedBy>viswithak@gmail.com</cp:lastModifiedBy>
  <cp:revision>1</cp:revision>
  <dcterms:created xsi:type="dcterms:W3CDTF">2013-01-27T09:14:16Z</dcterms:created>
  <dcterms:modified xsi:type="dcterms:W3CDTF">2026-10-13T11:09:14Z</dcterms:modified>
  <cp:category/>
</cp:coreProperties>
</file>